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4691-23D8-138C-3CCB-11957E910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56DBF-BE06-272E-29FF-EE0BB814E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CC91D-CD9B-CFF8-5EB8-18886B87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5585B-B96D-E118-0150-43CD22856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FC7B0-1D65-CEB4-BE51-230AF9A2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210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77B44-DA8F-E4B8-9835-15A6DF60A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6FCF-F4C0-A405-6266-560F07781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0B5A1-E6E6-8D71-A561-0BCBC949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9E7AE-8192-7D70-4C89-ADB02648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E093B-6F38-C8C3-3F3F-3D961567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68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1F00-F7DA-6F16-1CCA-72991D99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0B15F-752E-CBAB-E887-7EB246D1E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2CE27-23FE-C795-2B3E-4B79E818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9736A-2FC0-B738-F658-F4825DA3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E49F2-87BC-CF68-AF9D-D4FD649B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005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6F921-CB8F-0EEF-3FE3-19222516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0B1A3-E96F-5A2A-38F5-404C2162F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37E31-50AF-29A4-1CF4-0A82855A7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7543E-21D0-E42E-5487-D033D90B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62660-5AC7-11D2-8176-CD0175B7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EB55E-1BED-DF96-D7BE-EC311275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429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0758-17C0-7C8A-5851-E3F23C86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17A56-B02D-8260-5549-AEC667380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B50CC-8B7F-1A23-C026-87B0B06BA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8A1A42-E26C-888B-4E65-568E57D1C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706C4-0393-2E71-1844-8C2F7834C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A3C2C-52B8-D1BD-EEB4-E52BEF10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B4941-A616-D463-9E48-9EC7B6D0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7FB58-2BA8-DB42-015C-7A45FAA4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700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5CB0-8811-C504-E902-9F6171B6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0971CB-256D-CD29-7F47-AFE42CDE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D786B-1939-2044-B214-05E77B97D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D84C9-6995-F604-EA54-BCFA65E0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6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2B0134-2D0B-8B30-7354-E38D4014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C4CEF-70BB-2D3C-2D9D-DDE27B9B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E288-7802-866F-E50D-93BB8330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448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D7360-7519-7E79-556E-71FBDC395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92CB-58F5-570F-F86B-280E387CE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EEB31-9507-5960-C2B9-491A63EE0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D9223-A0C7-52F1-A22E-44D4EE3E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BD9C4-B20B-FC87-35D1-2DBBEB37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D629E-0246-3E28-7454-1ED34CBB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8000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BD7C-F0C2-97FE-59A6-77791A52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2A74-8D98-4E6E-8226-FA355D41D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13266-2822-6723-B304-AE888A8F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DD50A-F889-58CD-D63C-61277EED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AC436-EB28-B784-AE8C-96BE0C0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1C23B-4597-A639-C0B0-60F99C61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529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7572-67EE-3C6A-C9FC-FABDBF0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609D3-1FC5-78E3-B94B-794F96F33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C0D05-262E-2003-BF48-828C311B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220DF-A9E0-7D54-5ABC-41036E5E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F99FA-C897-528E-21F1-EC1D6D82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39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AD64E9-9069-AAB9-CF94-CFE0021B4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963A7-1708-C5DB-2AB5-7F6A39D87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5E057-3EC4-12A4-FD57-C3CE9685F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0163-4C73-03BF-F044-69422B23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9A3FE-6873-FCE4-4D90-A2D80B7C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115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777F2-308C-998C-913E-9EF938F6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16C36-0F0E-C496-B56B-829641E91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121F6-8B69-B081-1130-32DD3F591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6F978-E15D-48CF-AFDE-C6D6A9DC9E3B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468CE-71DA-C756-5AD1-38A6A9CD4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C0980-A203-0998-3718-8B28FDAEF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F2207-EF5B-48B2-8E20-682A9C7B8D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512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jagdev19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en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8960-53A3-374B-FAD1-26BDC86AD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>
                <a:solidFill>
                  <a:srgbClr val="00B050"/>
                </a:solidFill>
              </a:rPr>
              <a:t>Patent Data-Set Project </a:t>
            </a:r>
            <a:br>
              <a:rPr lang="en-CA" dirty="0"/>
            </a:br>
            <a:r>
              <a:rPr lang="en-CA" sz="4000" dirty="0"/>
              <a:t>Data Analytics using Python </a:t>
            </a:r>
            <a:br>
              <a:rPr lang="en-CA" dirty="0"/>
            </a:br>
            <a:r>
              <a:rPr lang="en-CA" sz="2400" dirty="0"/>
              <a:t>(</a:t>
            </a:r>
            <a:r>
              <a:rPr lang="en-CA" sz="2700" b="1" dirty="0"/>
              <a:t>Submitted to NEILIT HARIDWAR)</a:t>
            </a:r>
            <a:br>
              <a:rPr lang="en-CA" sz="6000" b="1" dirty="0"/>
            </a:br>
            <a:br>
              <a:rPr lang="en-CA" u="sng" dirty="0"/>
            </a:br>
            <a:r>
              <a:rPr lang="en-CA" sz="2000" b="1" u="sng" dirty="0"/>
              <a:t>Course Co-Ordinator: Kailash Joshi</a:t>
            </a:r>
            <a:endParaRPr lang="en-CA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4C3E9-69CA-6C95-01AE-9C85BD6C8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3700" y="4942030"/>
            <a:ext cx="5319141" cy="983282"/>
          </a:xfrm>
        </p:spPr>
        <p:txBody>
          <a:bodyPr>
            <a:normAutofit fontScale="25000" lnSpcReduction="20000"/>
          </a:bodyPr>
          <a:lstStyle/>
          <a:p>
            <a:r>
              <a:rPr lang="en-CA" sz="7200" b="1" dirty="0"/>
              <a:t> </a:t>
            </a:r>
          </a:p>
          <a:p>
            <a:r>
              <a:rPr lang="en-CA" sz="7200" b="1" dirty="0"/>
              <a:t>Submitted to NEILIT HARIDWAR</a:t>
            </a:r>
          </a:p>
          <a:p>
            <a:r>
              <a:rPr lang="en-CA" sz="7200" b="1" dirty="0"/>
              <a:t>Submitted By: Gaurav Jagdev</a:t>
            </a:r>
          </a:p>
          <a:p>
            <a:r>
              <a:rPr lang="en-CA" sz="7200" b="1" dirty="0">
                <a:hlinkClick r:id="rId2"/>
              </a:rPr>
              <a:t>gjagdev19@gmail.com</a:t>
            </a:r>
            <a:endParaRPr lang="en-CA" sz="7200" b="1" dirty="0"/>
          </a:p>
          <a:p>
            <a:r>
              <a:rPr lang="en-CA" sz="7200" b="1" dirty="0"/>
              <a:t>+91-9876071669</a:t>
            </a:r>
          </a:p>
          <a:p>
            <a:endParaRPr lang="en-CA" sz="3900" u="sng" dirty="0"/>
          </a:p>
        </p:txBody>
      </p:sp>
    </p:spTree>
    <p:extLst>
      <p:ext uri="{BB962C8B-B14F-4D97-AF65-F5344CB8AC3E}">
        <p14:creationId xmlns:p14="http://schemas.microsoft.com/office/powerpoint/2010/main" val="411574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9C60-0E6A-1BA6-8894-73F8BEB7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dirty="0">
                <a:solidFill>
                  <a:srgbClr val="00B050"/>
                </a:solidFill>
              </a:rPr>
              <a:t>Data-set for drone technology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68A34-1BD7-673D-1B25-C5994759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185"/>
            <a:ext cx="10515600" cy="4351338"/>
          </a:xfrm>
        </p:spPr>
        <p:txBody>
          <a:bodyPr>
            <a:normAutofit/>
          </a:bodyPr>
          <a:lstStyle/>
          <a:p>
            <a:r>
              <a:rPr lang="en-CA" sz="2300" dirty="0" err="1">
                <a:latin typeface="+mj-lt"/>
              </a:rPr>
              <a:t>lens_drones</a:t>
            </a:r>
            <a:r>
              <a:rPr lang="en-CA" sz="2300" dirty="0">
                <a:latin typeface="+mj-lt"/>
              </a:rPr>
              <a:t> – A full spectrum of </a:t>
            </a:r>
            <a:r>
              <a:rPr lang="en-US" sz="2300" b="0" i="0" dirty="0">
                <a:effectLst/>
                <a:latin typeface="+mj-lt"/>
              </a:rPr>
              <a:t>scientific &amp; patent publications from </a:t>
            </a:r>
            <a:r>
              <a:rPr lang="en-US" sz="2300" b="0" i="0" u="none" strike="noStrike" dirty="0">
                <a:effectLst/>
                <a:latin typeface="+mj-lt"/>
                <a:hlinkClick r:id="rId2"/>
              </a:rPr>
              <a:t>the Lens</a:t>
            </a:r>
            <a:r>
              <a:rPr lang="en-US" sz="2300" b="0" i="0" dirty="0">
                <a:effectLst/>
                <a:latin typeface="+mj-lt"/>
              </a:rPr>
              <a:t> open access database. The dataset contains invention details like application, published, priority dates, </a:t>
            </a:r>
            <a:r>
              <a:rPr lang="en-US" sz="2300" dirty="0">
                <a:latin typeface="+mj-lt"/>
              </a:rPr>
              <a:t>origin &amp; </a:t>
            </a:r>
            <a:r>
              <a:rPr lang="en-US" sz="2300" b="0" i="0" dirty="0">
                <a:effectLst/>
                <a:latin typeface="+mj-lt"/>
              </a:rPr>
              <a:t>filing jurisdictions, title, inventors etc.</a:t>
            </a:r>
            <a:endParaRPr lang="en-US" sz="2300" dirty="0">
              <a:latin typeface="+mj-lt"/>
            </a:endParaRPr>
          </a:p>
          <a:p>
            <a:r>
              <a:rPr lang="en-US" sz="2300" b="1" dirty="0">
                <a:latin typeface="+mj-lt"/>
              </a:rPr>
              <a:t>Each row is a observation or sample and each column is variable or measurement </a:t>
            </a:r>
          </a:p>
          <a:p>
            <a:endParaRPr lang="en-US" sz="2500" b="0" i="0" dirty="0">
              <a:effectLst/>
              <a:latin typeface="+mj-lt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588008-F5CB-39A8-FA5C-26C02CB33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84" y="2530764"/>
            <a:ext cx="9197991" cy="406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76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FD12C35-3C4B-3E6D-AAD5-AB3E78928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00B050"/>
                </a:solidFill>
              </a:rPr>
              <a:t>Project Objective for patent dataset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AEF88C9-8894-0320-0103-E8E40FD2AB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622755"/>
            <a:ext cx="901620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Calculate duration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application to publication by patent type.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jurisdiction and origin country patterns.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KNN models to predict duration and jurisdiction.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simple GUI to query predictions.</a:t>
            </a:r>
          </a:p>
        </p:txBody>
      </p:sp>
    </p:spTree>
    <p:extLst>
      <p:ext uri="{BB962C8B-B14F-4D97-AF65-F5344CB8AC3E}">
        <p14:creationId xmlns:p14="http://schemas.microsoft.com/office/powerpoint/2010/main" val="197585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1187-E051-EC7F-C0F6-D78500D6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00B050"/>
                </a:solidFill>
              </a:rPr>
              <a:t>Scope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3A413-00EA-97D5-EE99-CD8760B12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and clean Lens dataset.</a:t>
            </a:r>
          </a:p>
          <a:p>
            <a:r>
              <a:rPr lang="en-US" dirty="0"/>
              <a:t>Extract origin country from priority numbers.</a:t>
            </a:r>
          </a:p>
          <a:p>
            <a:r>
              <a:rPr lang="en-US" dirty="0"/>
              <a:t>Balanced sampling by type and country.</a:t>
            </a:r>
          </a:p>
          <a:p>
            <a:r>
              <a:rPr lang="en-US" dirty="0"/>
              <a:t>Compute durations and average by type.</a:t>
            </a:r>
          </a:p>
          <a:p>
            <a:r>
              <a:rPr lang="en-US" dirty="0"/>
              <a:t>Visualize results (line and scatter).</a:t>
            </a:r>
          </a:p>
          <a:p>
            <a:r>
              <a:rPr lang="en-US" dirty="0"/>
              <a:t>Train KNN models and expose predictions via </a:t>
            </a:r>
            <a:r>
              <a:rPr lang="en-US" dirty="0" err="1"/>
              <a:t>Tkinter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9931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9F3E-9DCD-B51B-7452-C2358E7BD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00B050"/>
                </a:solidFill>
              </a:rPr>
              <a:t>Tools and Technology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A09B73-AB6D-1575-4C8E-3733C46A7F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92847"/>
            <a:ext cx="8772192" cy="2809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Anacoda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&amp; Spyder 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Distributor and  Integrated Development Environment (IDE)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pandas,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matplotlib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scikit‑learn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KNeighborsClassifier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train_test_split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LabelEncoder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Tkinter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simple GUI and message boxes for predictions</a:t>
            </a:r>
          </a:p>
        </p:txBody>
      </p:sp>
      <p:pic>
        <p:nvPicPr>
          <p:cNvPr id="6" name="Picture 5" descr="A screen shot of a computer">
            <a:extLst>
              <a:ext uri="{FF2B5EF4-FFF2-40B4-BE49-F238E27FC236}">
                <a16:creationId xmlns:a16="http://schemas.microsoft.com/office/drawing/2014/main" id="{7F0DB587-4360-39EC-924F-E14B71C36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14" y="4155397"/>
            <a:ext cx="5096586" cy="24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4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8ED5-D9D8-7273-1414-D9591BAE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44" y="-133369"/>
            <a:ext cx="10515600" cy="1325563"/>
          </a:xfrm>
        </p:spPr>
        <p:txBody>
          <a:bodyPr>
            <a:normAutofit/>
          </a:bodyPr>
          <a:lstStyle/>
          <a:p>
            <a:r>
              <a:rPr lang="en-CA" sz="3200" dirty="0">
                <a:solidFill>
                  <a:srgbClr val="00B050"/>
                </a:solidFill>
              </a:rPr>
              <a:t>Import </a:t>
            </a:r>
            <a:r>
              <a:rPr lang="en-CA" sz="3200">
                <a:solidFill>
                  <a:srgbClr val="00B050"/>
                </a:solidFill>
              </a:rPr>
              <a:t>and Data Cleaning</a:t>
            </a:r>
            <a:endParaRPr lang="en-CA" sz="3200" dirty="0">
              <a:solidFill>
                <a:srgbClr val="00B050"/>
              </a:solidFill>
            </a:endParaRP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666B7A6-863D-A921-A043-C0E32C572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44" y="927205"/>
            <a:ext cx="10515600" cy="244713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067DCF-095F-D331-E2AE-3A6477EA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44" y="4434913"/>
            <a:ext cx="10516511" cy="195088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2551738-C4F0-DB1A-7E29-D382B4C50DE5}"/>
              </a:ext>
            </a:extLst>
          </p:cNvPr>
          <p:cNvSpPr txBox="1">
            <a:spLocks/>
          </p:cNvSpPr>
          <p:nvPr/>
        </p:nvSpPr>
        <p:spPr>
          <a:xfrm>
            <a:off x="837744" y="33743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>
                <a:solidFill>
                  <a:srgbClr val="00B050"/>
                </a:solidFill>
              </a:rPr>
              <a:t>Define and Extract variables from columns </a:t>
            </a:r>
          </a:p>
        </p:txBody>
      </p:sp>
    </p:spTree>
    <p:extLst>
      <p:ext uri="{BB962C8B-B14F-4D97-AF65-F5344CB8AC3E}">
        <p14:creationId xmlns:p14="http://schemas.microsoft.com/office/powerpoint/2010/main" val="2922944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8569-87B2-797D-7754-FD9B39F7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581" y="-106181"/>
            <a:ext cx="10515600" cy="1325563"/>
          </a:xfrm>
        </p:spPr>
        <p:txBody>
          <a:bodyPr>
            <a:normAutofit/>
          </a:bodyPr>
          <a:lstStyle/>
          <a:p>
            <a:r>
              <a:rPr lang="en-CA" sz="3200" dirty="0">
                <a:solidFill>
                  <a:srgbClr val="00B050"/>
                </a:solidFill>
              </a:rPr>
              <a:t>Sample observation and Duration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F2FCCF1-A153-A9DA-08FB-D8D9746DC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81" y="807418"/>
            <a:ext cx="10771909" cy="1357872"/>
          </a:xfr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A1551AC-1E66-166E-A158-8A29BD82B5F8}"/>
              </a:ext>
            </a:extLst>
          </p:cNvPr>
          <p:cNvSpPr txBox="1">
            <a:spLocks/>
          </p:cNvSpPr>
          <p:nvPr/>
        </p:nvSpPr>
        <p:spPr>
          <a:xfrm>
            <a:off x="579581" y="17856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>
                <a:solidFill>
                  <a:srgbClr val="00B050"/>
                </a:solidFill>
              </a:rPr>
              <a:t>Average Duration Line plot by application type</a:t>
            </a:r>
          </a:p>
        </p:txBody>
      </p:sp>
      <p:pic>
        <p:nvPicPr>
          <p:cNvPr id="16" name="Picture 1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3C12230-2912-7BD0-B459-AABB3C2ED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81" y="2731544"/>
            <a:ext cx="6209145" cy="3677528"/>
          </a:xfrm>
          <a:prstGeom prst="rect">
            <a:avLst/>
          </a:prstGeom>
        </p:spPr>
      </p:pic>
      <p:pic>
        <p:nvPicPr>
          <p:cNvPr id="18" name="Picture 17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B71BADED-33FD-37C7-E59A-54431DE21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93" y="2731544"/>
            <a:ext cx="5659479" cy="405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90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6FC6-8AF6-B8BE-0AB6-AE0C71C9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err="1">
                <a:solidFill>
                  <a:srgbClr val="00B050"/>
                </a:solidFill>
              </a:rPr>
              <a:t>Tkinter</a:t>
            </a:r>
            <a:r>
              <a:rPr lang="en-CA" sz="3200" dirty="0">
                <a:solidFill>
                  <a:srgbClr val="00B050"/>
                </a:solidFill>
              </a:rPr>
              <a:t> GUI for </a:t>
            </a:r>
            <a:r>
              <a:rPr lang="en-CA" sz="3200" dirty="0" err="1">
                <a:solidFill>
                  <a:srgbClr val="00B050"/>
                </a:solidFill>
              </a:rPr>
              <a:t>userinput</a:t>
            </a:r>
            <a:r>
              <a:rPr lang="en-CA" sz="3200" dirty="0">
                <a:solidFill>
                  <a:srgbClr val="00B050"/>
                </a:solidFill>
              </a:rPr>
              <a:t> to predict duration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C96DFAA-A86C-3CF4-A024-119B9D71E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20" y="1690688"/>
            <a:ext cx="6639852" cy="301032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D91733-1B38-F993-321D-20B433963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282" y="2041264"/>
            <a:ext cx="2391109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51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1B63-C79E-E432-4BA8-BC537307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>
                <a:solidFill>
                  <a:srgbClr val="00B050"/>
                </a:solidFill>
              </a:rPr>
              <a:t>Jurisdiction Classification Plot and Prediction</a:t>
            </a:r>
          </a:p>
        </p:txBody>
      </p:sp>
      <p:pic>
        <p:nvPicPr>
          <p:cNvPr id="5" name="Content Placeholder 4" descr="A graph of blue dots&#10;&#10;AI-generated content may be incorrect.">
            <a:extLst>
              <a:ext uri="{FF2B5EF4-FFF2-40B4-BE49-F238E27FC236}">
                <a16:creationId xmlns:a16="http://schemas.microsoft.com/office/drawing/2014/main" id="{462581DC-9250-C4AB-F2AE-96CB10203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272" y="1209515"/>
            <a:ext cx="4432528" cy="3403775"/>
          </a:xfr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A109E4E-57F0-1D4E-5458-EE1E501D3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12" y="1486041"/>
            <a:ext cx="6000255" cy="4914470"/>
          </a:xfrm>
          <a:prstGeom prst="rect">
            <a:avLst/>
          </a:prstGeom>
        </p:spPr>
      </p:pic>
      <p:pic>
        <p:nvPicPr>
          <p:cNvPr id="11" name="Picture 10" descr="A screenshot of a computer screen">
            <a:extLst>
              <a:ext uri="{FF2B5EF4-FFF2-40B4-BE49-F238E27FC236}">
                <a16:creationId xmlns:a16="http://schemas.microsoft.com/office/drawing/2014/main" id="{111D263D-EA85-3E65-6463-5FAFC0501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828" y="4860426"/>
            <a:ext cx="3211972" cy="1337173"/>
          </a:xfrm>
          <a:prstGeom prst="rect">
            <a:avLst/>
          </a:prstGeom>
        </p:spPr>
      </p:pic>
      <p:pic>
        <p:nvPicPr>
          <p:cNvPr id="13" name="Graphic 12" descr="Line arrow: Straight with solid fill">
            <a:extLst>
              <a:ext uri="{FF2B5EF4-FFF2-40B4-BE49-F238E27FC236}">
                <a16:creationId xmlns:a16="http://schemas.microsoft.com/office/drawing/2014/main" id="{D87F5503-24F7-382B-38CC-45B473F9F2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6954223" y="50718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55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160821-962B-0DC6-D5DE-1CCD05AD1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384" y="-173397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CA" sz="3200" dirty="0">
                <a:solidFill>
                  <a:srgbClr val="00B050"/>
                </a:solidFill>
              </a:rPr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C2074-656C-37C4-1C03-3D9964207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384" y="661411"/>
            <a:ext cx="5157787" cy="4139190"/>
          </a:xfrm>
        </p:spPr>
        <p:txBody>
          <a:bodyPr>
            <a:noAutofit/>
          </a:bodyPr>
          <a:lstStyle/>
          <a:p>
            <a:r>
              <a:rPr lang="en-US" sz="2000" dirty="0"/>
              <a:t>Data Preparation: Dataset cleaned, dates standardized, and origin countries extracted.</a:t>
            </a:r>
          </a:p>
          <a:p>
            <a:r>
              <a:rPr lang="en-US" sz="2000" dirty="0"/>
              <a:t>Duration Analysis: Publication delays vary by type.</a:t>
            </a:r>
          </a:p>
          <a:p>
            <a:r>
              <a:rPr lang="en-US" sz="2000" dirty="0"/>
              <a:t>Visualization: Line plot shows duration differences; scatter plot highlights dominant jurisdictions (US, WO).</a:t>
            </a:r>
          </a:p>
          <a:p>
            <a:r>
              <a:rPr lang="en-US" sz="2000" dirty="0"/>
              <a:t>Sampling: Sample Observation ensured fair and targeted representation.</a:t>
            </a:r>
          </a:p>
          <a:p>
            <a:r>
              <a:rPr lang="en-US" sz="2000" dirty="0"/>
              <a:t>Interactive GUI: </a:t>
            </a:r>
            <a:r>
              <a:rPr lang="en-US" sz="2000" dirty="0" err="1"/>
              <a:t>Tkinter</a:t>
            </a:r>
            <a:r>
              <a:rPr lang="en-US" sz="2000" dirty="0"/>
              <a:t> interface allows quick user input and instant prediction display.</a:t>
            </a:r>
          </a:p>
          <a:p>
            <a:r>
              <a:rPr lang="en-US" sz="2000" dirty="0"/>
              <a:t>Prediction Models:</a:t>
            </a:r>
          </a:p>
          <a:p>
            <a:r>
              <a:rPr lang="en-US" sz="2000" dirty="0"/>
              <a:t>KNN Duration: Patent type predicts approximate publication duration; </a:t>
            </a:r>
          </a:p>
          <a:p>
            <a:r>
              <a:rPr lang="en-US" sz="2000" dirty="0"/>
              <a:t>KNN Jurisdiction: Origin country mapped to jurisdiction probabilities (e.g., FR → US: 0.60, AU: 0.20).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A306C6-070D-F52F-DDC8-47E1AD52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-173397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CA" sz="3200" dirty="0">
                <a:solidFill>
                  <a:srgbClr val="00B050"/>
                </a:solidFill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9DA37-4D03-F9A8-AB5A-BEAECAD73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72171" y="661411"/>
            <a:ext cx="5183188" cy="4139190"/>
          </a:xfrm>
        </p:spPr>
        <p:txBody>
          <a:bodyPr>
            <a:normAutofit/>
          </a:bodyPr>
          <a:lstStyle/>
          <a:p>
            <a:r>
              <a:rPr lang="en-US" sz="2000" dirty="0"/>
              <a:t>The project demonstrates how basic analytics and machine learning can extract meaningful insights from open patent data.</a:t>
            </a:r>
          </a:p>
          <a:p>
            <a:r>
              <a:rPr lang="en-US" sz="2000" dirty="0"/>
              <a:t>Visualization (line and scatter plots) shows trends and classification inference</a:t>
            </a:r>
          </a:p>
          <a:p>
            <a:r>
              <a:rPr lang="en-US" sz="2000" dirty="0"/>
              <a:t>Prediction models (KNN-Classifier) provide quick and  interpretable estimates.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52240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406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Patent Data-Set Project  Data Analytics using Python  (Submitted to NEILIT HARIDWAR)  Course Co-Ordinator: Kailash Joshi</vt:lpstr>
      <vt:lpstr>Data-set for drone technology </vt:lpstr>
      <vt:lpstr>Project Objective for patent dataset</vt:lpstr>
      <vt:lpstr>Scope of Work</vt:lpstr>
      <vt:lpstr>Tools and Technology</vt:lpstr>
      <vt:lpstr>Import and Data Cleaning</vt:lpstr>
      <vt:lpstr>Sample observation and Duration </vt:lpstr>
      <vt:lpstr>Tkinter GUI for userinput to predict duration</vt:lpstr>
      <vt:lpstr>Jurisdiction Classification Plot and Prediction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Jagdev</dc:creator>
  <cp:lastModifiedBy>Gaurav Jagdev</cp:lastModifiedBy>
  <cp:revision>6</cp:revision>
  <dcterms:created xsi:type="dcterms:W3CDTF">2026-04-11T16:33:15Z</dcterms:created>
  <dcterms:modified xsi:type="dcterms:W3CDTF">2026-04-12T06:54:36Z</dcterms:modified>
</cp:coreProperties>
</file>